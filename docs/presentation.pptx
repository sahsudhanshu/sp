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e9d035570394e51" Type="http://schemas.openxmlformats.org/package/2006/relationships/metadata/core-properties" Target="docProps/core.xml"/><Relationship Id="R977c04c7ce2041f9" Type="http://schemas.openxmlformats.org/officeDocument/2006/relationships/officeDocument" Target="ppt/presentation.xml"/><Relationship Id="Rc7560e70158f4a50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c44c1f2e3d47a8"/>
  </p:sldMasterIdLst>
  <p:notesMasterIdLst>
    <p:notesMasterId xmlns:r="http://schemas.openxmlformats.org/officeDocument/2006/relationships" r:id="R58c32fe88ec24f19"/>
  </p:notesMasterIdLst>
  <p:sldIdLst>
    <p:sldId xmlns:r="http://schemas.openxmlformats.org/officeDocument/2006/relationships" id="256" r:id="Rd29cf81b408b4820"/>
    <p:sldId xmlns:r="http://schemas.openxmlformats.org/officeDocument/2006/relationships" id="257" r:id="R643fd9914f7f4cf2"/>
    <p:sldId xmlns:r="http://schemas.openxmlformats.org/officeDocument/2006/relationships" id="258" r:id="R4d931cc542e1458d"/>
    <p:sldId xmlns:r="http://schemas.openxmlformats.org/officeDocument/2006/relationships" id="259" r:id="R0ae8381d8d3d4442"/>
    <p:sldId xmlns:r="http://schemas.openxmlformats.org/officeDocument/2006/relationships" id="260" r:id="Rc230aa6b8f3e4ef3"/>
    <p:sldId xmlns:r="http://schemas.openxmlformats.org/officeDocument/2006/relationships" id="261" r:id="Re850ea387b754641"/>
    <p:sldId xmlns:r="http://schemas.openxmlformats.org/officeDocument/2006/relationships" id="262" r:id="R32cdaac1138846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ae8381d8d3d4442" Type="http://schemas.openxmlformats.org/officeDocument/2006/relationships/slide" Target="slides/slide4.xml"/><Relationship Id="R32cdaac1138846e1" Type="http://schemas.openxmlformats.org/officeDocument/2006/relationships/slide" Target="slides/slide7.xml"/><Relationship Id="R4d931cc542e1458d" Type="http://schemas.openxmlformats.org/officeDocument/2006/relationships/slide" Target="slides/slide3.xml"/><Relationship Id="R58c32fe88ec24f19" Type="http://schemas.openxmlformats.org/officeDocument/2006/relationships/notesMaster" Target="notesMasters/notesMaster1.xml"/><Relationship Id="R643fd9914f7f4cf2" Type="http://schemas.openxmlformats.org/officeDocument/2006/relationships/slide" Target="slides/slide2.xml"/><Relationship Id="R84789b7864394027" Type="http://schemas.openxmlformats.org/officeDocument/2006/relationships/presProps" Target="presProps.xml"/><Relationship Id="R94e1cb83da054995" Type="http://schemas.openxmlformats.org/officeDocument/2006/relationships/theme" Target="theme/theme1.xml"/><Relationship Id="R9f00c129a0724a3e" Type="http://schemas.openxmlformats.org/officeDocument/2006/relationships/tableStyles" Target="tableStyles.xml"/><Relationship Id="Rc230aa6b8f3e4ef3" Type="http://schemas.openxmlformats.org/officeDocument/2006/relationships/slide" Target="slides/slide5.xml"/><Relationship Id="Rd0c44c1f2e3d47a8" Type="http://schemas.openxmlformats.org/officeDocument/2006/relationships/slideMaster" Target="slideMasters/slideMaster1.xml"/><Relationship Id="Rd29cf81b408b4820" Type="http://schemas.openxmlformats.org/officeDocument/2006/relationships/slide" Target="slides/slide1.xml"/><Relationship Id="Re850ea387b754641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3a911ff7dbb242c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36cec228faa4c90" Type="http://schemas.openxmlformats.org/officeDocument/2006/relationships/slide" Target="../slides/slide1.xml"/><Relationship Id="Ra385212d4c0d4c4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267e33f6bf4740ab" Type="http://schemas.openxmlformats.org/officeDocument/2006/relationships/notesMaster" Target="../notesMasters/notesMaster1.xml"/><Relationship Id="Rc051286728b8407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b82d69b99ce4e53" Type="http://schemas.openxmlformats.org/officeDocument/2006/relationships/notesMaster" Target="../notesMasters/notesMaster1.xml"/><Relationship Id="Rcfcbbe72c53b483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d0a94b616c044c7c" Type="http://schemas.openxmlformats.org/officeDocument/2006/relationships/notesMaster" Target="../notesMasters/notesMaster1.xml"/><Relationship Id="Re4eee1abc91241da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aea5ad353fe40cb" Type="http://schemas.openxmlformats.org/officeDocument/2006/relationships/notesMaster" Target="../notesMasters/notesMaster1.xml"/><Relationship Id="R97330b7ad8674541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381ba6b9fa7b4dfd" Type="http://schemas.openxmlformats.org/officeDocument/2006/relationships/notesMaster" Target="../notesMasters/notesMaster1.xml"/><Relationship Id="Re72fc69e524148fa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a3bf549a4474c56" Type="http://schemas.openxmlformats.org/officeDocument/2006/relationships/slide" Target="../slides/slide7.xml"/><Relationship Id="R32a052f4b09649e9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hackathon prototype. Candidate name, college and college email remain to be completed in README. No real client or current market data is used in the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and scope derive from the supplied case study. Domain benefits describe a workflow, not measured business savings or production banking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data/news.csv, social_posts.csv, portfolio.csv and docs/demo-results-v2.json. Distinct wording does not prove independent reporting. Effective risk is raw impact × recency × evidence confidence.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rows follow pipeline order. Entity extraction uses portfolio dictionaries. Event classification and fusion use TF-IDF plus constraints/rules. Source and recency assumptions are deterministic. The original V1 finance service handles repricing. SQLite persists seven tables including RiskHistory. Demo execution is local and offline.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actual localhost production application screenshots and docs/demo-results-v2.json. Geopolitical news and its copied social post form cluster_4eddb6faefff. Direct exposure is INR 42M and weighted exposure INR 59.5M. Moderate loss INR 2,817,031.20 reconciles to assets and sectors. Hero values require cached FinBERT. The map screenshot highlights LOAN_01, value INR 12M and sensitivity .85.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environment":"Windows-11-10.0.26300-SP0","python":"3.14.6","model":"finbert","device":"CPU","rounds":3,"batch_size":8,"sequential_ms_per_record":[24.832858332956675,24.531887499809574,25.297008333533693],"batched_ms_per_record":[21.29492916719755,20.712937500017386,20.370529166636214],"sequential_median_ms":24.832858332956675,"batched_median_ms":20.712937500017386,"warm_cache_ms_per_record":0.007341666787397116,"labels_identical":true,"max_score_difference":0} Small synthetic examples share rule vocabulary; no independent validation. Historical V1 timing is not a controlled comparison. Controlled arms alternate order, clear result caches and exclude model loading; batching may be slower on this CPU. Current pipeline includes batched NLP/entity/impact, excludes SQLite, HTTP and V2 fusion. Stress timing excludes SQLite; V1 stress timing included a scenario read. Fusion/graph total reported separately. Source: docs/metrics-v2.json and backend/tests. Three alternating-order rounds, batch size eight, CPU, result caches cleared. Both arms produced identical rounded sentiment scores and labels. No measured bank productivity improvement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NewsAPI is optional. Missing API keys or API failures trigger a visible demo fallback. Social sources remain synthetic. Without cached FinBERT, a labelled lexicon fallback runs and numerical results differ. Deployment, independent validation, credentials and recording upload are outside current completed artifacts.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0620ebe6a3c1479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282dce3500d4499" Type="http://schemas.openxmlformats.org/officeDocument/2006/relationships/slideLayout" Target="../slideLayouts/slideLayout1.xml"/><Relationship Id="Rb0777e1336624450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82dce3500d44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8c82e46631f34d55" Type="http://schemas.openxmlformats.org/officeDocument/2006/relationships/slideLayout" Target="../slideLayouts/slideLayout1.xml"/><Relationship Id="Rc4be100f747d43a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7736bf97f93241d7" Type="http://schemas.openxmlformats.org/officeDocument/2006/relationships/slideLayout" Target="../slideLayouts/slideLayout1.xml"/><Relationship Id="R9b0b973001934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33727db46f074a7c" Type="http://schemas.openxmlformats.org/officeDocument/2006/relationships/notesSlide" Target="../notesSlides/notesSlide3.xml"/><Relationship Id="Rcd5348373e30437c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759ba6ed4d5f460b" Type="http://schemas.openxmlformats.org/officeDocument/2006/relationships/notesSlide" Target="../notesSlides/notesSlide4.xml"/><Relationship Id="Rb38d732bac3b494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f4b3eebbc76461f" Type="http://schemas.openxmlformats.org/officeDocument/2006/relationships/slideLayout" Target="../slideLayouts/slideLayout1.xml"/><Relationship Id="R716075e1d6d74bf5" Type="http://schemas.openxmlformats.org/officeDocument/2006/relationships/image" Target="../media/image.jpeg"/><Relationship Id="Rb718f8e389ac4354" Type="http://schemas.openxmlformats.org/officeDocument/2006/relationships/image" Target="../media/image2.jpeg"/><Relationship Id="Rc40087e72b1f44e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6eda474bece48b5" Type="http://schemas.openxmlformats.org/officeDocument/2006/relationships/notesSlide" Target="../notesSlides/notesSlide6.xml"/><Relationship Id="Ra3f0dc5b16cb45ea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6b06b6ce44d4351" Type="http://schemas.openxmlformats.org/officeDocument/2006/relationships/slideLayout" Target="../slideLayouts/slideLayout1.xml"/><Relationship Id="R76596ff3a1cb4a5e" Type="http://schemas.openxmlformats.org/officeDocument/2006/relationships/notesSlide" Target="../notesSlides/notesSlide7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1CB67-AC83-4EB0-940A-F08E8D85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RiskPulse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5BBF5D-63A4-4BDF-BB76-80525A95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F6EF5-0C1C-46ED-917E-F5FD29D9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56B60-CE05-4E2C-B550-B2ABA678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47850"/>
            <a:ext cx="1076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Explainable financial risk intelligence</a:t>
            </a:r>
          </a:p>
          <a:p xmlns:a="http://schemas.openxmlformats.org/drawingml/2006/main">
            <a:pPr>
              <a:defRPr sz="32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and portfolio scenario analysis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0E113E-5B70-4ADE-A701-3EA17CC8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Trace an event to the positions that carry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2AE70-A4AB-4879-8538-F6E910FA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Local FinBERT / Multi-source fusion / Financial transmission paths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571500" y="5700000"/>
            <a:ext cx="108585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6895"/>
                </a:solidFill>
              </a:rPr>
              <a:t>Sudhanshu  |  iit2024081@iiita.ac.in  |  IIIT Allahabad</a:t>
            </a:r>
          </a:p>
          <a:p>
            <a:pPr algn="l"/>
            <a:r>
              <a:rPr sz="1400" b="0">
                <a:solidFill>
                  <a:srgbClr val="61768F"/>
                </a:solidFill>
              </a:rPr>
              <a:t>S&amp;P Global &amp; Crisil Campus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939101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2BE9C-9421-4C59-96F1-2C73F0E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B4FB2-C5AD-471C-947F-316EE6273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87E14A-125B-499D-A161-76982B85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70F00-CE5D-45AC-8D5F-458CCBFD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Headlines arrive without balance-sheet context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047F1-ACAF-406A-AB75-94AAFCFB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Repeated reports can inflate apparent event activity.</a:t>
            </a:r>
          </a:p>
          <a:p xmlns:a="http://schemas.openxmlformats.org/drawingml/2006/main">
            <a:pPr>
              <a:defRPr sz="22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Sentiment alone does not identify exposed positions.</a:t>
            </a:r>
          </a:p>
          <a:p xmlns:a="http://schemas.openxmlformats.org/drawingml/2006/main">
            <a:pPr>
              <a:defRPr sz="22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A loss total is difficult to challenge without its assumptions.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4FC8B-6E39-4C3E-98BD-88E060E7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The analyst needs an auditable path from evidence</a:t>
            </a:r>
          </a:p>
          <a:p xmlns:a="http://schemas.openxmlformats.org/drawingml/2006/main">
            <a:pPr>
              <a:defRPr sz="2400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to exposure, scenario loss and the largest contributors.</a:t>
            </a:r>
          </a:p>
        </p:txBody>
      </p:sp>
    </p:spTree>
    <p:extLst>
      <p:ext uri="{BB962C8B-B14F-4D97-AF65-F5344CB8AC3E}">
        <p14:creationId xmlns:p14="http://schemas.microsoft.com/office/powerpoint/2010/main" val="2111280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64833-5BD7-4C4F-A573-39B6344C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From Signals to Portfolio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1289C-A3D6-48E8-9B79-1EAE0CCF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DB6B6-97B4-43B3-A433-95D5693D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A3A08-8156-49E8-8C0A-A2CC71D9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93548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F9525E-54CF-4EEB-A46B-F13EA68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0200"/>
            <a:ext cx="174498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DB83C-D6E0-4342-A1B6-1A51B9CA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5555" y="17145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7564C-E7DD-4B65-9BFA-0F9B80D1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9880" y="1524000"/>
            <a:ext cx="193548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9B853-A57D-4807-9BF7-B013494E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" y="1600200"/>
            <a:ext cx="174498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FC11B5-C562-441C-80E2-4F8068E2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3935" y="17145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C6EEF-7EC6-43EC-AFB0-F728C69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260" y="1524000"/>
            <a:ext cx="193548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D245C-CBD7-409B-8295-98F92E2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10" y="1600200"/>
            <a:ext cx="174498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EXPOSURE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F246B6-860E-4B10-93DE-9EC07F09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2315" y="17145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6C942-ABB0-41E7-96B5-8A1C37A4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524000"/>
            <a:ext cx="193548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FAAB2A-1B2E-449C-931D-4D6FAE5F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1890" y="1600200"/>
            <a:ext cx="174498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CB27BE-629F-4B0D-A7D9-7CA51EC1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0695" y="17145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9D7A0-B5EE-4B12-9F95-ED8656C3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524000"/>
            <a:ext cx="193548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2AC4A-E772-43C0-AEB4-98C8EDF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270" y="1600200"/>
            <a:ext cx="174498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AE1B4D-B0B3-4FFE-A93C-64FAD67F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Evidence first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73E92-C610-48C0-BE52-0EB364A2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53340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24 observations form 12 event clusters.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Normalized copies add no corroboration.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Source credibility and recency affect priority.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Severity stays separate from confidence.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EA84A-0CB8-4349-A129-7217A853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Portfolio reasoning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9BEEB3-17C0-476E-A452-E0E2CD8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86150"/>
            <a:ext cx="48577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One transmission path per position.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Conditional repricing from actual assets.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Sector and position totals reconcile.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Counterfactual inputs are explicit.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7CCD30-C3E3-4F21-8A2D-AC4DB6D5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959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Hero: 2 sources, 1 distinct text, Critical effective risk 8.36 / 10</a:t>
            </a:r>
          </a:p>
        </p:txBody>
      </p:sp>
    </p:spTree>
    <p:extLst>
      <p:ext uri="{BB962C8B-B14F-4D97-AF65-F5344CB8AC3E}">
        <p14:creationId xmlns:p14="http://schemas.microsoft.com/office/powerpoint/2010/main" val="6546198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EA56C7-4FEC-45F9-A672-0C95FB3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Risk Propagation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516BF7-8CA0-4A77-8966-0423614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4B4D3-C0AD-44F4-B534-EC629845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89BD0-09EC-47F6-BB23-3DB69C2B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345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60F6CE-53B4-43E3-9FDE-B60FFFD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57325"/>
            <a:ext cx="326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News + social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F7834-47D9-4FA9-9AB2-93959E4E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475" y="1571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E3008-539F-4DCF-ADC8-8A4EC47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381125"/>
            <a:ext cx="345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2188D-9BE7-496C-94A1-ECA7E91F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1457325"/>
            <a:ext cx="326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Ingestion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D6151-1002-464E-8261-5087B3DA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75" y="157162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248BB-2336-4380-8208-52433C8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1381125"/>
            <a:ext cx="345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62557-3D51-4EC9-8564-9C08EAE4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1457325"/>
            <a:ext cx="326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Normalization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D1ACE-FD39-4D53-9738-B0144384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1050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017A08-02F4-4E99-A137-C5639224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B4FF9D-D98C-4132-82FC-BA382801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Entity extraction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D2FAB2-16A7-4EB1-89E5-B6038604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670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D2B245-B28B-4629-9392-2C82C677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D9F819-150F-4DA2-86AE-62F7F8D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52700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FinBERT sentiment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72595-131F-489F-A172-07305B80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B1C07-34D9-4614-BA29-C1BC239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76500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5F48E-55F0-4578-82CE-9C3192D1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Event classification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6431A-E1E4-4100-A8D1-855A5F2A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602DD-8728-42E8-98DB-67A71F8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476500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31916-9100-4751-B370-063E0D0F1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52700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Credibility + recency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4302F0-DB25-434A-85EF-D97F722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0992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50564-4808-471F-AC61-BD056047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11617-F584-4329-AF52-FF787C7D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48075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Signal fusion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6F9E26-14AC-4F68-AEE9-5B7B800B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62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D11D2C-8EAE-4926-91CC-51AC994A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9FF70F-8469-48B0-BD51-3EFE221B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48075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Risk 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780DDC-A7CB-4FBA-8A55-41AE1DC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762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B6EE9-5975-473B-AF0A-3CF7669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71875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5B3F1C-116B-4741-B556-0CD83711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Propagation graph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2600F3-584B-4383-8D4B-E1AF3470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62375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970E6D-EDC9-4259-95B0-12C2D466B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571875"/>
            <a:ext cx="25050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78AAEE-CD89-422E-8191-FD159D50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48075"/>
            <a:ext cx="23145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Sector / portfolio exposure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CA87D4-46F8-45FE-BA20-514562D4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3053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27704C-EDE6-4A5B-8A4E-6DEFC41E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345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FC7B5-3D1A-4CE0-A89C-0FCB0263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326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Stress engine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5A671E-54B5-45ED-B061-2711267F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475" y="4857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99B30FC-E815-4EAB-AEA9-D3E6E504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667250"/>
            <a:ext cx="345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25801E-6BBB-4BEB-94ED-FCD6FF75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4743450"/>
            <a:ext cx="326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Loss attribution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40525E-4DB3-48BA-8C8C-0DAD5ECD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75" y="4857750"/>
            <a:ext cx="28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81F22E-E793-419C-9859-14AE893A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100" y="4667250"/>
            <a:ext cx="345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9"/>
          </a:solidFill>
          <a:ln xmlns:a="http://schemas.openxmlformats.org/drawingml/2006/main" w="9525">
            <a:solidFill>
              <a:srgbClr val="CCD9E6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DDC78F-1E1E-4FD5-A662-0B6C3673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350" y="4743450"/>
            <a:ext cx="3263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4E6421-2781-40DB-8B46-76CD32E1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Next.js interface ↔ FastAPI services ↔ SQLite evidence and arrival history</a:t>
            </a:r>
          </a:p>
        </p:txBody>
      </p:sp>
    </p:spTree>
    <p:extLst>
      <p:ext uri="{BB962C8B-B14F-4D97-AF65-F5344CB8AC3E}">
        <p14:creationId xmlns:p14="http://schemas.microsoft.com/office/powerpoint/2010/main" val="20401265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B70A0-F9E5-4A92-B3A4-86A989DB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Live Event → Exposure → Stress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943F6-EC99-4523-BD43-C20A3C59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F778E-8DE3-4AF0-85E3-6A620806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0B0C3-9BDC-464C-BA1D-68BF998B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8F6"/>
                </a:solidFill>
                <a:latin typeface="Arial"/>
                <a:ea typeface="Arial"/>
                <a:cs typeface="Arial"/>
              </a:rPr>
              <a:t>Event → Risk signal → Propagation → Exposure → Stress → Attribution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075e1d6d74bf5"/>
          <a:stretch xmlns:a="http://schemas.openxmlformats.org/drawingml/2006/main"/>
        </p:blipFill>
        <p:spPr>
          <a:xfrm xmlns:a="http://schemas.openxmlformats.org/drawingml/2006/main">
            <a:off x="599281" y="1790700"/>
            <a:ext cx="5278438" cy="366712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8f8e389ac4354"/>
          <a:stretch xmlns:a="http://schemas.openxmlformats.org/drawingml/2006/main"/>
        </p:blipFill>
        <p:spPr>
          <a:xfrm xmlns:a="http://schemas.openxmlformats.org/drawingml/2006/main">
            <a:off x="6314281" y="1790700"/>
            <a:ext cx="5278438" cy="36671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44D9D-D7BB-492C-80DA-54275D21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12 asset paths / INR 59.5M weighted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60A55D-19DE-49E8-9994-5CBD3A41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72125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INR 100M → 97.183M / Loss INR 2.817M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C44A7E-45D9-4B94-8E7B-BA96D7D6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007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Actual production application screenshots. Intensity 1.5× gives INR 4.226M loss.</a:t>
            </a:r>
          </a:p>
        </p:txBody>
      </p:sp>
    </p:spTree>
    <p:extLst>
      <p:ext uri="{BB962C8B-B14F-4D97-AF65-F5344CB8AC3E}">
        <p14:creationId xmlns:p14="http://schemas.microsoft.com/office/powerpoint/2010/main" val="85448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6DE7E6-3958-416D-B482-F3DE64DD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Results + Explainability + Domain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7BEFE-C1A9-4735-824A-622D02C5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B8A31-DEC7-4745-A3C4-57ABBAD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628ED-D9D0-4ADE-A296-A7DC8589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Measured on the local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B544D-EBA2-40B9-B77F-77073778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715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59 automated tests pass (V1: 25)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24 synthetic records / 12 paired copies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Event-label agreement: 100%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Sentiment agreement: 91.67%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CPU median sentiment inference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Sequential: 24.833 ms per record</a:t>
            </a:r>
          </a:p>
          <a:p xmlns:a="http://schemas.openxmlformats.org/drawingml/2006/main">
            <a:pPr>
              <a:defRPr sz="195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Batched: 20.713 ms per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FE5EA-A976-47DF-805D-01384D75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76375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Traceable financial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1E8BB-83F6-455E-9220-80DE9B85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38375"/>
            <a:ext cx="4667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Energy loss: INR 1.679M</a:t>
            </a:r>
          </a:p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Largest asset: EQ_01, INR .582M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Inputs, evidence and edge weights</a:t>
            </a:r>
          </a:p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remain available in the audit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Analysts can challenge assumptions</a:t>
            </a:r>
          </a:p>
          <a:p xmlns:a="http://schemas.openxmlformats.org/drawingml/2006/main">
            <a:pPr>
              <a:defRPr sz="187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and compare conditional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1B9D8-CFE2-4E7B-AC89-D9C5C212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Small correlated synthetic evaluation. Agreement does not establish real-world accuracy.</a:t>
            </a:r>
          </a:p>
        </p:txBody>
      </p:sp>
    </p:spTree>
    <p:extLst>
      <p:ext uri="{BB962C8B-B14F-4D97-AF65-F5344CB8AC3E}">
        <p14:creationId xmlns:p14="http://schemas.microsoft.com/office/powerpoint/2010/main" val="20052626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F63AD-5D5F-4A06-B6AF-4D39F46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Limitations +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5E43D-73CF-4882-9502-02E5790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91275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RiskPulse AI V2 / Synthetic data and stress assumptions / Decision-support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4BD72-4EED-47C4-9D03-84E8DA01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9127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37CA26-7B01-4E4B-8105-58C1702E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2877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Current 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0335C-6FB7-49C3-983F-3478E8BA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Small correlated synthetic dataset</a:t>
            </a:r>
          </a:p>
          <a:p xmlns:a="http://schemas.openxmlformats.org/drawingml/2006/main">
            <a:pPr>
              <a:defRPr sz="202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Dictionary entities and lexical similarity</a:t>
            </a:r>
          </a:p>
          <a:p xmlns:a="http://schemas.openxmlformats.org/drawingml/2006/main">
            <a:pPr>
              <a:defRPr sz="202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Heuristic confidence and source weights</a:t>
            </a:r>
          </a:p>
          <a:p xmlns:a="http://schemas.openxmlformats.org/drawingml/2006/main">
            <a:pPr>
              <a:defRPr sz="202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Illustrative shocks and sensitivities</a:t>
            </a:r>
          </a:p>
          <a:p xmlns:a="http://schemas.openxmlformats.org/drawingml/2006/main">
            <a:pPr>
              <a:defRPr sz="202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Simplified instrument repricing</a:t>
            </a:r>
          </a:p>
          <a:p xmlns:a="http://schemas.openxmlformats.org/drawingml/2006/main">
            <a:pPr>
              <a:defRPr sz="2025" b="0">
                <a:solidFill>
                  <a:srgbClr val="61768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1768F"/>
                </a:solidFill>
                <a:latin typeface="Arial"/>
                <a:ea typeface="Arial"/>
                <a:cs typeface="Arial"/>
              </a:rPr>
              <a:t>Single-process local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90AE4-76FE-4004-A3C1-AD435E74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28775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A43"/>
                </a:solidFill>
                <a:latin typeface="Arial"/>
                <a:ea typeface="Arial"/>
                <a:cs typeface="Arial"/>
              </a:rPr>
              <a:t>Validation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A585BF-83B1-47EB-9EF1-437A315C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43175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Independent labels and time-based tests</a:t>
            </a:r>
          </a:p>
          <a:p xmlns:a="http://schemas.openxmlformats.org/drawingml/2006/main">
            <a:pPr>
              <a:defRPr sz="20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Verified source provenance</a:t>
            </a:r>
          </a:p>
          <a:p xmlns:a="http://schemas.openxmlformats.org/drawingml/2006/main">
            <a:pPr>
              <a:defRPr sz="20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Calibrated confidence and market shocks</a:t>
            </a:r>
          </a:p>
          <a:p xmlns:a="http://schemas.openxmlformats.org/drawingml/2006/main">
            <a:pPr>
              <a:defRPr sz="20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Hedging and instrument-specific pricing</a:t>
            </a:r>
          </a:p>
          <a:p xmlns:a="http://schemas.openxmlformats.org/drawingml/2006/main">
            <a:pPr>
              <a:defRPr sz="20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Bank risk-team review and backtests</a:t>
            </a:r>
          </a:p>
          <a:p xmlns:a="http://schemas.openxmlformats.org/drawingml/2006/main">
            <a:pPr>
              <a:defRPr sz="2025" b="0">
                <a:solidFill>
                  <a:srgbClr val="17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A43"/>
                </a:solidFill>
                <a:latin typeface="Arial"/>
                <a:ea typeface="Arial"/>
                <a:cs typeface="Arial"/>
              </a:rPr>
              <a:t>Operational security and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B485D-1E1D-4C5D-9B4A-7B77B38C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78F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478F6"/>
                </a:solidFill>
                <a:latin typeface="Arial"/>
                <a:ea typeface="Arial"/>
                <a:cs typeface="Arial"/>
              </a:rPr>
              <a:t>Decision support prototype. No market prediction or regulatory-compliance claim.</a:t>
            </a:r>
          </a:p>
        </p:txBody>
      </p:sp>
    </p:spTree>
    <p:extLst>
      <p:ext uri="{BB962C8B-B14F-4D97-AF65-F5344CB8AC3E}">
        <p14:creationId xmlns:p14="http://schemas.microsoft.com/office/powerpoint/2010/main" val="12213310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2026-10-02T17:31:08.5450000Z</dcterms:created>
  <dcterms:modified xsi:type="dcterms:W3CDTF">2026-10-02T17:31:08.5460000Z</dcterms:modified>
</coreProperties>
</file>